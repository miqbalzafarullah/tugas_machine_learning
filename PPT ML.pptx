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95587" y="1624012"/>
            <a:ext cx="6600825" cy="1490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lang="en-US" sz="5250" b="1" dirty="0">
                <a:solidFill>
                  <a:srgbClr val="CCD6F6"/>
                </a:solidFill>
                <a:latin typeface="Poppins"/>
              </a:rPr>
              <a:t>MACHINE LEARNING</a:t>
            </a:r>
            <a:endParaRPr sz="5250" b="1" i="0" u="none" dirty="0">
              <a:solidFill>
                <a:srgbClr val="CCD6F6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52750" y="3281362"/>
            <a:ext cx="62865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 u="none" dirty="0">
                <a:solidFill>
                  <a:srgbClr val="64FFDA"/>
                </a:solidFill>
                <a:latin typeface="Poppins"/>
              </a:rPr>
              <a:t>Decision Tree </a:t>
            </a:r>
            <a:r>
              <a:rPr lang="en-US" dirty="0">
                <a:solidFill>
                  <a:srgbClr val="64FFDA"/>
                </a:solidFill>
                <a:latin typeface="Poppins"/>
              </a:rPr>
              <a:t>&amp;</a:t>
            </a:r>
            <a:r>
              <a:rPr sz="1800" b="0" i="0" u="none" dirty="0">
                <a:solidFill>
                  <a:srgbClr val="64FFDA"/>
                </a:solidFill>
                <a:latin typeface="Poppins"/>
              </a:rPr>
              <a:t> </a:t>
            </a:r>
            <a:r>
              <a:rPr lang="en-ID" sz="1800" b="0" i="0" u="none" dirty="0" err="1">
                <a:solidFill>
                  <a:srgbClr val="64FFDA"/>
                </a:solidFill>
                <a:latin typeface="Poppins"/>
              </a:rPr>
              <a:t>NaiveBayes</a:t>
            </a:r>
            <a:endParaRPr sz="1800" b="0" i="0" u="none" dirty="0">
              <a:solidFill>
                <a:srgbClr val="64FFDA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52750" y="4005262"/>
            <a:ext cx="6286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8892B0"/>
                </a:solidFill>
                <a:latin typeface="Lato"/>
              </a:rPr>
              <a:t>Disusun oleh: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2750" y="4381892"/>
            <a:ext cx="6286500" cy="926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1650" b="0" i="0" u="none" dirty="0">
                <a:solidFill>
                  <a:srgbClr val="CCD6F6"/>
                </a:solidFill>
                <a:latin typeface="Lato SemiBold"/>
              </a:rPr>
              <a:t>Muhammad Iqbal Zafarullah (G1A024007)</a:t>
            </a:r>
          </a:p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CCD6F6"/>
                </a:solidFill>
                <a:latin typeface="Lato SemiBold"/>
              </a:rPr>
              <a:t>Achmad </a:t>
            </a:r>
            <a:r>
              <a:rPr sz="1650" b="0" i="0" u="none" dirty="0" err="1">
                <a:solidFill>
                  <a:srgbClr val="CCD6F6"/>
                </a:solidFill>
                <a:latin typeface="Lato SemiBold"/>
              </a:rPr>
              <a:t>Apanza</a:t>
            </a:r>
            <a:r>
              <a:rPr sz="1650" b="0" i="0" u="none" dirty="0">
                <a:solidFill>
                  <a:srgbClr val="CCD6F6"/>
                </a:solidFill>
                <a:latin typeface="Lato SemiBold"/>
              </a:rPr>
              <a:t> (G1A024015) </a:t>
            </a:r>
            <a:endParaRPr lang="en-US" sz="1650" b="0" i="0" u="none" dirty="0">
              <a:solidFill>
                <a:srgbClr val="CCD6F6"/>
              </a:solidFill>
              <a:latin typeface="Lato SemiBold"/>
            </a:endParaRPr>
          </a:p>
          <a:p>
            <a:pPr algn="ctr">
              <a:lnSpc>
                <a:spcPts val="2475"/>
              </a:lnSpc>
            </a:pPr>
            <a:r>
              <a:rPr lang="en-ID" sz="1650" b="0" i="0" u="none" dirty="0" err="1">
                <a:solidFill>
                  <a:srgbClr val="CCD6F6"/>
                </a:solidFill>
                <a:latin typeface="Lato SemiBold"/>
              </a:rPr>
              <a:t>Agief</a:t>
            </a:r>
            <a:r>
              <a:rPr lang="en-ID" sz="1650" b="0" i="0" u="none" dirty="0">
                <a:solidFill>
                  <a:srgbClr val="CCD6F6"/>
                </a:solidFill>
                <a:latin typeface="Lato SemiBold"/>
              </a:rPr>
              <a:t> </a:t>
            </a:r>
            <a:r>
              <a:rPr lang="en-ID" sz="1650" b="0" i="0" u="none" dirty="0" err="1">
                <a:solidFill>
                  <a:srgbClr val="CCD6F6"/>
                </a:solidFill>
                <a:latin typeface="Lato SemiBold"/>
              </a:rPr>
              <a:t>Vemas</a:t>
            </a:r>
            <a:r>
              <a:rPr lang="en-ID" sz="1650" b="0" i="0" u="none" dirty="0">
                <a:solidFill>
                  <a:srgbClr val="CCD6F6"/>
                </a:solidFill>
                <a:latin typeface="Lato SemiBold"/>
              </a:rPr>
              <a:t> A (G1A024037</a:t>
            </a:r>
            <a:endParaRPr sz="1650" b="0" i="0" u="none" dirty="0">
              <a:solidFill>
                <a:srgbClr val="CCD6F6"/>
              </a:solidFill>
              <a:latin typeface="Lato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52750" y="5594019"/>
            <a:ext cx="6286500" cy="898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rgbClr val="8892B0"/>
                </a:solidFill>
                <a:latin typeface="Lato"/>
              </a:rPr>
              <a:t>Program Studi </a:t>
            </a:r>
            <a:r>
              <a:rPr lang="en-US" sz="1200" dirty="0" err="1">
                <a:solidFill>
                  <a:srgbClr val="8892B0"/>
                </a:solidFill>
                <a:latin typeface="Lato"/>
              </a:rPr>
              <a:t>Informatika</a:t>
            </a:r>
            <a:endParaRPr lang="en-US" sz="1200" dirty="0">
              <a:solidFill>
                <a:srgbClr val="8892B0"/>
              </a:solidFill>
              <a:latin typeface="Lato"/>
            </a:endParaRPr>
          </a:p>
          <a:p>
            <a:pPr algn="ctr">
              <a:lnSpc>
                <a:spcPts val="1800"/>
              </a:lnSpc>
            </a:pPr>
            <a:r>
              <a:rPr lang="en-US" sz="1200" b="0" i="0" u="none" dirty="0" err="1">
                <a:solidFill>
                  <a:srgbClr val="8892B0"/>
                </a:solidFill>
                <a:latin typeface="Lato"/>
              </a:rPr>
              <a:t>Fakultas</a:t>
            </a:r>
            <a:r>
              <a:rPr lang="en-US" sz="1200" b="0" i="0" u="none" dirty="0">
                <a:solidFill>
                  <a:srgbClr val="8892B0"/>
                </a:solidFill>
                <a:latin typeface="Lato"/>
              </a:rPr>
              <a:t> Teknik</a:t>
            </a:r>
          </a:p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8892B0"/>
                </a:solidFill>
                <a:latin typeface="Lato"/>
              </a:rPr>
              <a:t>Universitas Bengkulu </a:t>
            </a:r>
            <a:endParaRPr lang="en-US" sz="1200" b="0" i="0" u="none" dirty="0">
              <a:solidFill>
                <a:srgbClr val="8892B0"/>
              </a:solidFill>
              <a:latin typeface="Lato"/>
            </a:endParaRPr>
          </a:p>
          <a:p>
            <a:pPr algn="ctr">
              <a:lnSpc>
                <a:spcPts val="1800"/>
              </a:lnSpc>
            </a:pPr>
            <a:r>
              <a:rPr lang="en-ID" sz="1200" dirty="0">
                <a:solidFill>
                  <a:srgbClr val="8892B0"/>
                </a:solidFill>
                <a:latin typeface="Lato"/>
              </a:rPr>
              <a:t>2026</a:t>
            </a:r>
            <a:endParaRPr sz="1200" b="0" i="0" u="none" dirty="0">
              <a:solidFill>
                <a:srgbClr val="8892B0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28750"/>
            <a:ext cx="5334000" cy="485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28750"/>
            <a:ext cx="5334000" cy="485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519362"/>
            <a:ext cx="498062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FFDA"/>
                </a:solidFill>
                <a:latin typeface="Poppins SemiBold"/>
              </a:rPr>
              <a:t>Gaussian Naive Bayes (GNB)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390775"/>
            <a:ext cx="498062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F6B6B"/>
                </a:solidFill>
                <a:latin typeface="Poppins SemiBold"/>
              </a:rPr>
              <a:t>Decision Tree (DT)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96703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2967037"/>
            <a:ext cx="4552950" cy="7715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CD6F6"/>
                </a:solidFill>
                <a:latin typeface="Lato"/>
              </a:rPr>
              <a:t>Asumsi Independen: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Bekerja efisien dengan asumsi setiap variabel prediktor bersifat independen (tidak saling memengaruhi).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88143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881437"/>
            <a:ext cx="45529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CD6F6"/>
                </a:solidFill>
                <a:latin typeface="Lato"/>
              </a:rPr>
              <a:t>Kestabilan: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Sangat stabil pada dataset berukuran kecil (N=500), tangguh terhadap </a:t>
            </a:r>
            <a:r>
              <a:rPr sz="1350" b="0" i="1" u="none">
                <a:solidFill>
                  <a:srgbClr val="CCD6F6"/>
                </a:solidFill>
                <a:latin typeface="Lato"/>
              </a:rPr>
              <a:t>noise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53866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538662"/>
            <a:ext cx="45529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CD6F6"/>
                </a:solidFill>
                <a:latin typeface="Lato"/>
              </a:rPr>
              <a:t>Probabilitas Murni: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Memprediksi berdasarkan akumulasi probabilitas statistik tiap atribut.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28384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2838450"/>
            <a:ext cx="45529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CD6F6"/>
                </a:solidFill>
                <a:latin typeface="Lato"/>
              </a:rPr>
              <a:t>Pendekatan Hierarkis: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Memecah data berdasarkan batas threshold (Information Gain) tertinggi.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34956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495675"/>
            <a:ext cx="4552950" cy="7715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CD6F6"/>
                </a:solidFill>
                <a:latin typeface="Lato"/>
              </a:rPr>
              <a:t>Risiko Memorize: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Tanpa batasan kedalaman (</a:t>
            </a:r>
            <a:r>
              <a:rPr sz="1350" b="0" i="1" u="none">
                <a:solidFill>
                  <a:srgbClr val="CCD6F6"/>
                </a:solidFill>
                <a:latin typeface="Lato"/>
              </a:rPr>
              <a:t>No Limit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), model rentan </a:t>
            </a:r>
            <a:r>
              <a:rPr sz="1350" b="1" i="0" u="none">
                <a:solidFill>
                  <a:srgbClr val="CCD6F6"/>
                </a:solidFill>
                <a:latin typeface="Lato"/>
              </a:rPr>
              <a:t>Overfitting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karena menghafal spesifikasi data uji secara mutlak.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44100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4410075"/>
            <a:ext cx="4552950" cy="7715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CD6F6"/>
                </a:solidFill>
                <a:latin typeface="Lato"/>
              </a:rPr>
              <a:t>Solusi: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Membutuhkan </a:t>
            </a:r>
            <a:r>
              <a:rPr sz="1350" b="0" i="1" u="none">
                <a:solidFill>
                  <a:srgbClr val="CCD6F6"/>
                </a:solidFill>
                <a:latin typeface="Lato"/>
              </a:rPr>
              <a:t>Pre-pruning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(max_depth=3) untuk memaksa model agar menggeneralisasi pola, bukan menghafal.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CCD6F6"/>
                </a:solidFill>
                <a:latin typeface="Poppins SemiBold"/>
              </a:rPr>
              <a:t>1. Dasar Teori &amp; Karakteristik Algoritma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4" y="1143001"/>
            <a:ext cx="5381625" cy="2286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1147763"/>
            <a:ext cx="5381625" cy="2281237"/>
          </a:xfrm>
          <a:prstGeom prst="roundRect">
            <a:avLst>
              <a:gd name="adj" fmla="val 0"/>
            </a:avLst>
          </a:prstGeom>
          <a:solidFill>
            <a:srgbClr val="11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392170"/>
              </p:ext>
            </p:extLst>
          </p:nvPr>
        </p:nvGraphicFramePr>
        <p:xfrm>
          <a:off x="571500" y="1147763"/>
          <a:ext cx="5372098" cy="228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0309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FFDA"/>
                          </a:solidFill>
                          <a:latin typeface="Lato SemiBold"/>
                        </a:rPr>
                        <a:t>Model Uji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64FFDA"/>
                          </a:solidFill>
                          <a:latin typeface="Lato SemiBold"/>
                        </a:rPr>
                        <a:t>Akurasi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64FFDA"/>
                          </a:solidFill>
                          <a:latin typeface="Lato SemiBold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64FFDA"/>
                          </a:solidFill>
                          <a:latin typeface="Lato SemiBold"/>
                        </a:rPr>
                        <a:t>Overfit </a:t>
                      </a:r>
                      <a:r>
                        <a:rPr sz="1200" b="0" i="1" u="none">
                          <a:solidFill>
                            <a:srgbClr val="64FFDA"/>
                          </a:solidFill>
                          <a:latin typeface="Lato SemiBold"/>
                        </a:rPr>
                        <a:t>(Latih-Uji)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309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8892B0"/>
                          </a:solidFill>
                          <a:latin typeface="Lato"/>
                        </a:rPr>
                        <a:t>GaussianNB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64FFDA"/>
                          </a:solidFill>
                          <a:latin typeface="Lato"/>
                        </a:rPr>
                        <a:t>75.0%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8892B0"/>
                          </a:solidFill>
                          <a:latin typeface="Lato"/>
                        </a:rPr>
                        <a:t>0.71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64FFDA"/>
                          </a:solidFill>
                          <a:latin typeface="Lato"/>
                        </a:rPr>
                        <a:t>0.00</a:t>
                      </a:r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 Stabil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309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8892B0"/>
                          </a:solidFill>
                          <a:latin typeface="Lato"/>
                        </a:rPr>
                        <a:t>DT (Depth=3)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71.0%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0.59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0.07 Aman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3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8892B0"/>
                          </a:solidFill>
                          <a:latin typeface="Lato"/>
                        </a:rPr>
                        <a:t>DT (No Limit)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68.0%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0.62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 dirty="0">
                          <a:solidFill>
                            <a:srgbClr val="8892B0"/>
                          </a:solidFill>
                          <a:latin typeface="Lato"/>
                        </a:rPr>
                        <a:t>0.32 Overfit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6054" y="1390650"/>
            <a:ext cx="513064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FFDA"/>
                </a:solidFill>
                <a:latin typeface="Poppins SemiBold"/>
              </a:rPr>
              <a:t>Visualisasi Akurasi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8211" y="3136106"/>
            <a:ext cx="4886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8892B0"/>
                </a:solidFill>
                <a:latin typeface="Lato"/>
              </a:rPr>
              <a:t>*GaussianNB unggul absolut tanpa margin overfitting (0.00 selisih latih-uji).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262" y="1685925"/>
            <a:ext cx="1456878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33141" y="1685925"/>
            <a:ext cx="1006524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39665" y="1685925"/>
            <a:ext cx="1123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2722" y="1685925"/>
            <a:ext cx="1785639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262" y="2262188"/>
            <a:ext cx="1456878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33141" y="2262188"/>
            <a:ext cx="1006524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39665" y="2262188"/>
            <a:ext cx="1123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2722" y="2262188"/>
            <a:ext cx="1785639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2838450"/>
            <a:ext cx="1456878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33141" y="2838450"/>
            <a:ext cx="1006524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39665" y="2838450"/>
            <a:ext cx="1123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2722" y="2838450"/>
            <a:ext cx="1785639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262" y="3414713"/>
            <a:ext cx="1456878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033141" y="3414713"/>
            <a:ext cx="1006524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39665" y="3414713"/>
            <a:ext cx="1123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2722" y="3414713"/>
            <a:ext cx="1785639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011" y="1852613"/>
            <a:ext cx="514350" cy="26193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248" y="2428875"/>
            <a:ext cx="514350" cy="26193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148" y="3005138"/>
            <a:ext cx="590550" cy="2619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571500"/>
            <a:ext cx="116014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 u="none" dirty="0">
                <a:solidFill>
                  <a:srgbClr val="CCD6F6"/>
                </a:solidFill>
                <a:latin typeface="Poppins SemiBold"/>
              </a:rPr>
              <a:t>2. </a:t>
            </a:r>
            <a:r>
              <a:rPr sz="2000" b="0" i="0" u="none" dirty="0" err="1">
                <a:solidFill>
                  <a:srgbClr val="CCD6F6"/>
                </a:solidFill>
                <a:latin typeface="Poppins SemiBold"/>
              </a:rPr>
              <a:t>Evaluasi</a:t>
            </a:r>
            <a:r>
              <a:rPr sz="2000" b="0" i="0" u="none" dirty="0">
                <a:solidFill>
                  <a:srgbClr val="CCD6F6"/>
                </a:solidFill>
                <a:latin typeface="Poppins SemiBold"/>
              </a:rPr>
              <a:t> Performa </a:t>
            </a:r>
            <a:r>
              <a:rPr sz="2000" b="0" i="0" u="none" dirty="0" err="1">
                <a:solidFill>
                  <a:srgbClr val="CCD6F6"/>
                </a:solidFill>
                <a:latin typeface="Poppins SemiBold"/>
              </a:rPr>
              <a:t>Keseluruhan</a:t>
            </a:r>
            <a:r>
              <a:rPr lang="en-US" sz="2000" dirty="0">
                <a:solidFill>
                  <a:srgbClr val="CCD6F6"/>
                </a:solidFill>
                <a:latin typeface="Poppins SemiBold"/>
              </a:rPr>
              <a:t>, </a:t>
            </a:r>
            <a:r>
              <a:rPr lang="en-ID" sz="2000" dirty="0" err="1">
                <a:solidFill>
                  <a:srgbClr val="CCD6F6"/>
                </a:solidFill>
                <a:latin typeface="Poppins SemiBold"/>
              </a:rPr>
              <a:t>Signifikansi</a:t>
            </a:r>
            <a:r>
              <a:rPr lang="en-ID" sz="2000" dirty="0">
                <a:solidFill>
                  <a:srgbClr val="CCD6F6"/>
                </a:solidFill>
                <a:latin typeface="Poppins SemiBold"/>
              </a:rPr>
              <a:t> Fitur &amp; </a:t>
            </a:r>
            <a:r>
              <a:rPr lang="en-ID" sz="2000" dirty="0" err="1">
                <a:solidFill>
                  <a:srgbClr val="CCD6F6"/>
                </a:solidFill>
                <a:latin typeface="Poppins SemiBold"/>
              </a:rPr>
              <a:t>Korelasi</a:t>
            </a:r>
            <a:r>
              <a:rPr lang="en-ID" sz="2000" dirty="0">
                <a:solidFill>
                  <a:srgbClr val="CCD6F6"/>
                </a:solidFill>
                <a:latin typeface="Poppins SemiBold"/>
              </a:rPr>
              <a:t> </a:t>
            </a:r>
            <a:r>
              <a:rPr lang="en-ID" sz="2000" dirty="0" err="1">
                <a:solidFill>
                  <a:srgbClr val="CCD6F6"/>
                </a:solidFill>
                <a:latin typeface="Poppins SemiBold"/>
              </a:rPr>
              <a:t>Prediktor</a:t>
            </a:r>
            <a:endParaRPr sz="2000" b="0" i="0" u="none" dirty="0">
              <a:solidFill>
                <a:srgbClr val="CCD6F6"/>
              </a:solidFill>
              <a:latin typeface="Poppins SemiBold"/>
            </a:endParaRPr>
          </a:p>
        </p:txBody>
      </p:sp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22DB165-F9D2-46FC-F2FB-62B575B6C7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3" y="3669505"/>
            <a:ext cx="3587650" cy="287178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558B25D-EB25-6F11-88BA-0B44476B003E}"/>
              </a:ext>
            </a:extLst>
          </p:cNvPr>
          <p:cNvSpPr txBox="1"/>
          <p:nvPr/>
        </p:nvSpPr>
        <p:spPr>
          <a:xfrm>
            <a:off x="809623" y="3917155"/>
            <a:ext cx="3092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64FFDA"/>
                </a:solidFill>
                <a:latin typeface="Poppins"/>
              </a:rPr>
              <a:t>+0.85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9E72E1-366B-DBC4-1CA8-ACBD31DB14BD}"/>
              </a:ext>
            </a:extLst>
          </p:cNvPr>
          <p:cNvSpPr txBox="1"/>
          <p:nvPr/>
        </p:nvSpPr>
        <p:spPr>
          <a:xfrm>
            <a:off x="809623" y="4469605"/>
            <a:ext cx="3092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8892B0"/>
                </a:solidFill>
                <a:latin typeface="Lato SemiBold"/>
              </a:rPr>
              <a:t>Korelasi Tertinggi (IPK Sem 1-3)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93D7F-2E33-5941-5EAC-424F5D6E3B30}"/>
              </a:ext>
            </a:extLst>
          </p:cNvPr>
          <p:cNvSpPr txBox="1"/>
          <p:nvPr/>
        </p:nvSpPr>
        <p:spPr>
          <a:xfrm>
            <a:off x="809623" y="4841080"/>
            <a:ext cx="30923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CD6F6"/>
                </a:solidFill>
                <a:latin typeface="Lato"/>
              </a:rPr>
              <a:t>Insight Prediktif: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B80B6B-20A5-49E6-EBD4-9366BB827BBC}"/>
              </a:ext>
            </a:extLst>
          </p:cNvPr>
          <p:cNvSpPr txBox="1"/>
          <p:nvPr/>
        </p:nvSpPr>
        <p:spPr>
          <a:xfrm>
            <a:off x="809623" y="5198267"/>
            <a:ext cx="3092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8892B0"/>
                </a:solidFill>
                <a:latin typeface="Lato"/>
              </a:rPr>
              <a:t>• </a:t>
            </a:r>
            <a:r>
              <a:rPr sz="1050" b="0" i="0" u="none" dirty="0" err="1">
                <a:solidFill>
                  <a:srgbClr val="8892B0"/>
                </a:solidFill>
                <a:latin typeface="Lato"/>
              </a:rPr>
              <a:t>Metrik</a:t>
            </a:r>
            <a:r>
              <a:rPr sz="1050" b="0" i="0" u="none" dirty="0">
                <a:solidFill>
                  <a:srgbClr val="8892B0"/>
                </a:solidFill>
                <a:latin typeface="Lato"/>
              </a:rPr>
              <a:t> </a:t>
            </a:r>
            <a:r>
              <a:rPr sz="1050" b="0" i="0" u="none" dirty="0" err="1">
                <a:solidFill>
                  <a:srgbClr val="8892B0"/>
                </a:solidFill>
                <a:latin typeface="Lato"/>
              </a:rPr>
              <a:t>akademik</a:t>
            </a:r>
            <a:r>
              <a:rPr sz="1050" b="0" i="0" u="none" dirty="0">
                <a:solidFill>
                  <a:srgbClr val="8892B0"/>
                </a:solidFill>
                <a:latin typeface="Lato"/>
              </a:rPr>
              <a:t> </a:t>
            </a:r>
            <a:r>
              <a:rPr sz="1050" b="0" i="0" u="none" dirty="0" err="1">
                <a:solidFill>
                  <a:srgbClr val="8892B0"/>
                </a:solidFill>
                <a:latin typeface="Lato"/>
              </a:rPr>
              <a:t>murni</a:t>
            </a:r>
            <a:r>
              <a:rPr sz="1050" b="0" i="0" u="none" dirty="0">
                <a:solidFill>
                  <a:srgbClr val="8892B0"/>
                </a:solidFill>
                <a:latin typeface="Lato"/>
              </a:rPr>
              <a:t> </a:t>
            </a:r>
            <a:r>
              <a:rPr sz="1050" b="0" i="0" u="none" dirty="0" err="1">
                <a:solidFill>
                  <a:srgbClr val="8892B0"/>
                </a:solidFill>
                <a:latin typeface="Lato"/>
              </a:rPr>
              <a:t>memegang</a:t>
            </a:r>
            <a:r>
              <a:rPr sz="1050" b="0" i="0" u="none" dirty="0">
                <a:solidFill>
                  <a:srgbClr val="8892B0"/>
                </a:solidFill>
                <a:latin typeface="Lato"/>
              </a:rPr>
              <a:t> </a:t>
            </a:r>
            <a:r>
              <a:rPr sz="1050" b="0" i="0" u="none" dirty="0" err="1">
                <a:solidFill>
                  <a:srgbClr val="8892B0"/>
                </a:solidFill>
                <a:latin typeface="Lato"/>
              </a:rPr>
              <a:t>kendali</a:t>
            </a:r>
            <a:r>
              <a:rPr sz="1050" b="0" i="0" u="none" dirty="0">
                <a:solidFill>
                  <a:srgbClr val="8892B0"/>
                </a:solidFill>
                <a:latin typeface="Lato"/>
              </a:rPr>
              <a:t> </a:t>
            </a:r>
            <a:r>
              <a:rPr sz="1050" b="0" i="0" u="none" dirty="0" err="1">
                <a:solidFill>
                  <a:srgbClr val="8892B0"/>
                </a:solidFill>
                <a:latin typeface="Lato"/>
              </a:rPr>
              <a:t>atas</a:t>
            </a:r>
            <a:r>
              <a:rPr sz="1050" b="0" i="0" u="none" dirty="0">
                <a:solidFill>
                  <a:srgbClr val="8892B0"/>
                </a:solidFill>
                <a:latin typeface="Lato"/>
              </a:rPr>
              <a:t> &gt;76% </a:t>
            </a:r>
            <a:r>
              <a:rPr sz="1050" b="0" i="0" u="none" dirty="0" err="1">
                <a:solidFill>
                  <a:srgbClr val="8892B0"/>
                </a:solidFill>
                <a:latin typeface="Lato"/>
              </a:rPr>
              <a:t>bobot</a:t>
            </a:r>
            <a:r>
              <a:rPr sz="1050" b="0" i="0" u="none" dirty="0">
                <a:solidFill>
                  <a:srgbClr val="8892B0"/>
                </a:solidFill>
                <a:latin typeface="Lato"/>
              </a:rPr>
              <a:t> </a:t>
            </a:r>
            <a:r>
              <a:rPr sz="1050" b="0" i="0" u="none" dirty="0" err="1">
                <a:solidFill>
                  <a:srgbClr val="8892B0"/>
                </a:solidFill>
                <a:latin typeface="Lato"/>
              </a:rPr>
              <a:t>keputusan</a:t>
            </a:r>
            <a:r>
              <a:rPr sz="1050" b="0" i="0" u="none" dirty="0">
                <a:solidFill>
                  <a:srgbClr val="8892B0"/>
                </a:solidFill>
                <a:latin typeface="Lato"/>
              </a:rPr>
              <a:t> model.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6DAE0C-6AC0-E621-18AD-F47E9FE4DB97}"/>
              </a:ext>
            </a:extLst>
          </p:cNvPr>
          <p:cNvSpPr txBox="1"/>
          <p:nvPr/>
        </p:nvSpPr>
        <p:spPr>
          <a:xfrm>
            <a:off x="809623" y="5693567"/>
            <a:ext cx="3092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8892B0"/>
                </a:solidFill>
                <a:latin typeface="Lato"/>
              </a:rPr>
              <a:t>• Variabel sosial ekonomi (pendapatan, gender) menyumbang &lt;5% Information Gain, sehingga disarankan dihapus guna mencegah bias algoritma.</a:t>
            </a:r>
          </a:p>
        </p:txBody>
      </p:sp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FE539450-CE94-E116-3085-0D87C09E68AE}"/>
              </a:ext>
            </a:extLst>
          </p:cNvPr>
          <p:cNvSpPr/>
          <p:nvPr/>
        </p:nvSpPr>
        <p:spPr>
          <a:xfrm>
            <a:off x="4435373" y="3676649"/>
            <a:ext cx="7175599" cy="2857500"/>
          </a:xfrm>
          <a:prstGeom prst="roundRect">
            <a:avLst>
              <a:gd name="adj" fmla="val 0"/>
            </a:avLst>
          </a:prstGeom>
          <a:solidFill>
            <a:srgbClr val="11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0F09B73-BD8B-9767-3A89-8A24A66DB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664988"/>
              </p:ext>
            </p:extLst>
          </p:nvPr>
        </p:nvGraphicFramePr>
        <p:xfrm>
          <a:off x="4435373" y="3676649"/>
          <a:ext cx="7166072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9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FFDA"/>
                          </a:solidFill>
                          <a:latin typeface="Lato SemiBold"/>
                        </a:rPr>
                        <a:t>Variabel / Fitur Utama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64FFDA"/>
                          </a:solidFill>
                          <a:latin typeface="Lato SemiBold"/>
                        </a:rPr>
                        <a:t>Korelasi (r)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64FFDA"/>
                          </a:solidFill>
                          <a:latin typeface="Lato SemiBold"/>
                        </a:rPr>
                        <a:t>Kategori Signifikansi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IPK Semester 1-3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64FFDA"/>
                          </a:solidFill>
                          <a:latin typeface="Lato"/>
                        </a:rPr>
                        <a:t>+0.85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Prediktor Utama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Total SKS Diselesaikan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64FFDA"/>
                          </a:solidFill>
                          <a:latin typeface="Lato"/>
                        </a:rPr>
                        <a:t>+0.72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Prediktor Utama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Rata-rata Kehadiran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8892B0"/>
                          </a:solidFill>
                          <a:latin typeface="Lato"/>
                        </a:rPr>
                        <a:t>+0.58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Prediktor Menengah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8892B0"/>
                          </a:solidFill>
                          <a:latin typeface="Lato"/>
                        </a:rPr>
                        <a:t>Pendapatan Orang Tua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6B6B"/>
                          </a:solidFill>
                          <a:latin typeface="Lato"/>
                        </a:rPr>
                        <a:t>+0.12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 dirty="0" err="1">
                          <a:solidFill>
                            <a:srgbClr val="8892B0"/>
                          </a:solidFill>
                          <a:latin typeface="Lato"/>
                        </a:rPr>
                        <a:t>Diabaikan</a:t>
                      </a:r>
                      <a:r>
                        <a:rPr sz="1200" b="0" i="0" u="none" dirty="0">
                          <a:solidFill>
                            <a:srgbClr val="8892B0"/>
                          </a:solidFill>
                          <a:latin typeface="Lato"/>
                        </a:rPr>
                        <a:t> (</a:t>
                      </a:r>
                      <a:r>
                        <a:rPr sz="1200" b="0" i="0" u="none" dirty="0" err="1">
                          <a:solidFill>
                            <a:srgbClr val="8892B0"/>
                          </a:solidFill>
                          <a:latin typeface="Lato"/>
                        </a:rPr>
                        <a:t>Potensi</a:t>
                      </a:r>
                      <a:r>
                        <a:rPr sz="1200" b="0" i="0" u="none" dirty="0">
                          <a:solidFill>
                            <a:srgbClr val="8892B0"/>
                          </a:solidFill>
                          <a:latin typeface="Lato"/>
                        </a:rPr>
                        <a:t> Bias)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020E7010-8D86-AE15-FF79-DCB966A0FCD1}"/>
              </a:ext>
            </a:extLst>
          </p:cNvPr>
          <p:cNvSpPr/>
          <p:nvPr/>
        </p:nvSpPr>
        <p:spPr>
          <a:xfrm>
            <a:off x="4440136" y="4214811"/>
            <a:ext cx="269736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9FD800-E034-8D41-ECF7-FEAFE4AEB145}"/>
              </a:ext>
            </a:extLst>
          </p:cNvPr>
          <p:cNvSpPr/>
          <p:nvPr/>
        </p:nvSpPr>
        <p:spPr>
          <a:xfrm>
            <a:off x="7137497" y="4214811"/>
            <a:ext cx="160898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2B4CE0-E41A-D942-F0F5-7075BF540510}"/>
              </a:ext>
            </a:extLst>
          </p:cNvPr>
          <p:cNvSpPr/>
          <p:nvPr/>
        </p:nvSpPr>
        <p:spPr>
          <a:xfrm>
            <a:off x="8746478" y="4214811"/>
            <a:ext cx="285973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FC101F2-0605-E669-E738-AB8D88DAEBA2}"/>
              </a:ext>
            </a:extLst>
          </p:cNvPr>
          <p:cNvSpPr/>
          <p:nvPr/>
        </p:nvSpPr>
        <p:spPr>
          <a:xfrm>
            <a:off x="4440136" y="4791074"/>
            <a:ext cx="269736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018BC67-5F77-2002-1480-BC90F383DCFD}"/>
              </a:ext>
            </a:extLst>
          </p:cNvPr>
          <p:cNvSpPr/>
          <p:nvPr/>
        </p:nvSpPr>
        <p:spPr>
          <a:xfrm>
            <a:off x="7137497" y="4791074"/>
            <a:ext cx="160898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7F6405-BB74-D8A6-D3D5-8C3D5F3C0B7B}"/>
              </a:ext>
            </a:extLst>
          </p:cNvPr>
          <p:cNvSpPr/>
          <p:nvPr/>
        </p:nvSpPr>
        <p:spPr>
          <a:xfrm>
            <a:off x="8746478" y="4791074"/>
            <a:ext cx="285973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D22AEE3-2980-BEE7-AFE3-82313BEA1D51}"/>
              </a:ext>
            </a:extLst>
          </p:cNvPr>
          <p:cNvSpPr/>
          <p:nvPr/>
        </p:nvSpPr>
        <p:spPr>
          <a:xfrm>
            <a:off x="4440136" y="5367336"/>
            <a:ext cx="269736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D36617B-31E1-D96D-A338-374194209BAF}"/>
              </a:ext>
            </a:extLst>
          </p:cNvPr>
          <p:cNvSpPr/>
          <p:nvPr/>
        </p:nvSpPr>
        <p:spPr>
          <a:xfrm>
            <a:off x="7137497" y="5367336"/>
            <a:ext cx="160898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8D1799A-BDA2-07E1-6D43-BB9F2FE462F3}"/>
              </a:ext>
            </a:extLst>
          </p:cNvPr>
          <p:cNvSpPr/>
          <p:nvPr/>
        </p:nvSpPr>
        <p:spPr>
          <a:xfrm>
            <a:off x="8746478" y="5367336"/>
            <a:ext cx="285973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FBDCE4-248A-03E8-2E7C-BD2213AD31C2}"/>
              </a:ext>
            </a:extLst>
          </p:cNvPr>
          <p:cNvSpPr/>
          <p:nvPr/>
        </p:nvSpPr>
        <p:spPr>
          <a:xfrm>
            <a:off x="4440136" y="5943599"/>
            <a:ext cx="269736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C623682-EEE5-6E43-AD11-FCD1336BBE1B}"/>
              </a:ext>
            </a:extLst>
          </p:cNvPr>
          <p:cNvSpPr/>
          <p:nvPr/>
        </p:nvSpPr>
        <p:spPr>
          <a:xfrm>
            <a:off x="7137497" y="5943599"/>
            <a:ext cx="160898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0F6B1FC-699F-6E25-102A-D0A12A2F5840}"/>
              </a:ext>
            </a:extLst>
          </p:cNvPr>
          <p:cNvSpPr/>
          <p:nvPr/>
        </p:nvSpPr>
        <p:spPr>
          <a:xfrm>
            <a:off x="8746478" y="5943599"/>
            <a:ext cx="285973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56F67BA-C311-FD1E-44A9-C974183144E6}"/>
              </a:ext>
            </a:extLst>
          </p:cNvPr>
          <p:cNvSpPr/>
          <p:nvPr/>
        </p:nvSpPr>
        <p:spPr>
          <a:xfrm>
            <a:off x="4440136" y="6519861"/>
            <a:ext cx="269736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56B22D5-09A6-AAB1-0786-BF51C2280B2D}"/>
              </a:ext>
            </a:extLst>
          </p:cNvPr>
          <p:cNvSpPr/>
          <p:nvPr/>
        </p:nvSpPr>
        <p:spPr>
          <a:xfrm>
            <a:off x="7137497" y="6519861"/>
            <a:ext cx="160898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B16852-4163-5DB4-9731-0FD9DF8CCB9E}"/>
              </a:ext>
            </a:extLst>
          </p:cNvPr>
          <p:cNvSpPr/>
          <p:nvPr/>
        </p:nvSpPr>
        <p:spPr>
          <a:xfrm>
            <a:off x="8746478" y="6519861"/>
            <a:ext cx="285973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2725"/>
            <a:ext cx="11049000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8750"/>
            <a:ext cx="5429250" cy="1133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428750"/>
            <a:ext cx="5429250" cy="1133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333750"/>
            <a:ext cx="110813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FFDA"/>
                </a:solidFill>
                <a:latin typeface="Poppins SemiBold"/>
              </a:rPr>
              <a:t>Mengapa Metrik ini Penting?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876675"/>
            <a:ext cx="10553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CD6F6"/>
                </a:solidFill>
                <a:latin typeface="Lato"/>
              </a:rPr>
              <a:t>Model ini dirancang sebagai </a:t>
            </a:r>
            <a:r>
              <a:rPr sz="1200" b="1" i="0" u="none">
                <a:solidFill>
                  <a:srgbClr val="CCD6F6"/>
                </a:solidFill>
                <a:latin typeface="Lato"/>
              </a:rPr>
              <a:t>Early Warning System (EWS)</a:t>
            </a:r>
            <a:r>
              <a:rPr sz="1200" b="0" i="0" u="none">
                <a:solidFill>
                  <a:srgbClr val="CCD6F6"/>
                </a:solidFill>
                <a:latin typeface="Lato"/>
              </a:rPr>
              <a:t> atau Sistem Peringatan Dini.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628775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64FFDA"/>
                </a:solidFill>
                <a:latin typeface="Poppins"/>
              </a:rPr>
              <a:t>63%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181225"/>
            <a:ext cx="5029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892B0"/>
                </a:solidFill>
                <a:latin typeface="Lato SemiBold"/>
              </a:rPr>
              <a:t>Recall (Kelas: Gagal)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275" y="1628775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64FFDA"/>
                </a:solidFill>
                <a:latin typeface="Poppins"/>
              </a:rP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2181225"/>
            <a:ext cx="5029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892B0"/>
                </a:solidFill>
                <a:latin typeface="Lato SemiBold"/>
              </a:rPr>
              <a:t>Precision (Kelas: Lulus)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910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391025"/>
            <a:ext cx="1036320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CD6F6"/>
                </a:solidFill>
                <a:latin typeface="Lato"/>
              </a:rPr>
              <a:t>Tingkat </a:t>
            </a:r>
            <a:r>
              <a:rPr sz="1350" b="1" i="0" u="none">
                <a:solidFill>
                  <a:srgbClr val="CCD6F6"/>
                </a:solidFill>
                <a:latin typeface="Lato"/>
              </a:rPr>
              <a:t>Recall 63%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 pada kelas "Gagal" berarti sistem mampu mendeteksi 6 dari 10 mahasiswa yang benar-benar berisiko putus studi/terlambat.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482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5048250"/>
            <a:ext cx="1036320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CD6F6"/>
                </a:solidFill>
                <a:latin typeface="Lato"/>
              </a:rPr>
              <a:t>Sensitivitas GNB lebih tangguh dalam menangkap sinyal bahaya (IPK turun, SKS tertinggal) dibandingkan Decision Tree yang kerap menebak mayoritas aman (</a:t>
            </a:r>
            <a:r>
              <a:rPr sz="1350" b="0" i="1" u="none">
                <a:solidFill>
                  <a:srgbClr val="CCD6F6"/>
                </a:solidFill>
                <a:latin typeface="Lato"/>
              </a:rPr>
              <a:t>false negative</a:t>
            </a:r>
            <a:r>
              <a:rPr sz="1350" b="0" i="0" u="none">
                <a:solidFill>
                  <a:srgbClr val="CCD6F6"/>
                </a:solidFill>
                <a:latin typeface="Lato"/>
              </a:rPr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dirty="0">
                <a:solidFill>
                  <a:srgbClr val="CCD6F6"/>
                </a:solidFill>
                <a:latin typeface="Poppins SemiBold"/>
              </a:rPr>
              <a:t>3</a:t>
            </a:r>
            <a:r>
              <a:rPr sz="3000" b="0" i="0" u="none" dirty="0">
                <a:solidFill>
                  <a:srgbClr val="CCD6F6"/>
                </a:solidFill>
                <a:latin typeface="Poppins SemiBold"/>
              </a:rPr>
              <a:t>. Deep-Dive </a:t>
            </a:r>
            <a:r>
              <a:rPr sz="3000" b="0" i="0" u="none" dirty="0" err="1">
                <a:solidFill>
                  <a:srgbClr val="CCD6F6"/>
                </a:solidFill>
                <a:latin typeface="Poppins SemiBold"/>
              </a:rPr>
              <a:t>Metrik</a:t>
            </a:r>
            <a:r>
              <a:rPr sz="3000" b="0" i="0" u="none" dirty="0">
                <a:solidFill>
                  <a:srgbClr val="CCD6F6"/>
                </a:solidFill>
                <a:latin typeface="Poppins SemiBold"/>
              </a:rPr>
              <a:t> (</a:t>
            </a:r>
            <a:r>
              <a:rPr sz="3000" b="0" i="0" u="none" dirty="0" err="1">
                <a:solidFill>
                  <a:srgbClr val="CCD6F6"/>
                </a:solidFill>
                <a:latin typeface="Poppins SemiBold"/>
              </a:rPr>
              <a:t>GaussianNB</a:t>
            </a:r>
            <a:r>
              <a:rPr sz="3000" b="0" i="0" u="none" dirty="0">
                <a:solidFill>
                  <a:srgbClr val="CCD6F6"/>
                </a:solidFill>
                <a:latin typeface="Poppins SemiBold"/>
              </a:rPr>
              <a:t>) </a:t>
            </a:r>
            <a:r>
              <a:rPr sz="3000" b="0" i="0" u="none" dirty="0" err="1">
                <a:solidFill>
                  <a:srgbClr val="CCD6F6"/>
                </a:solidFill>
                <a:latin typeface="Poppins SemiBold"/>
              </a:rPr>
              <a:t>untuk</a:t>
            </a:r>
            <a:r>
              <a:rPr sz="3000" b="0" i="0" u="none" dirty="0">
                <a:solidFill>
                  <a:srgbClr val="CCD6F6"/>
                </a:solidFill>
                <a:latin typeface="Poppins SemiBold"/>
              </a:rPr>
              <a:t> 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28750"/>
            <a:ext cx="3492549" cy="2443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428750"/>
            <a:ext cx="3492549" cy="24431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428750"/>
            <a:ext cx="3492549" cy="24431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2352675"/>
            <a:ext cx="270033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CD6F6"/>
                </a:solidFill>
                <a:latin typeface="Poppins SemiBold"/>
              </a:rPr>
              <a:t>1. Strategi Dual-Model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800350"/>
            <a:ext cx="299724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CD6F6"/>
                </a:solidFill>
                <a:latin typeface="Lato"/>
              </a:rPr>
              <a:t>Terapkan </a:t>
            </a:r>
            <a:r>
              <a:rPr sz="1125" b="1" i="0" u="none">
                <a:solidFill>
                  <a:srgbClr val="CCD6F6"/>
                </a:solidFill>
                <a:latin typeface="Lato"/>
              </a:rPr>
              <a:t>GaussianNB</a:t>
            </a:r>
            <a:r>
              <a:rPr sz="1125" b="0" i="0" u="none">
                <a:solidFill>
                  <a:srgbClr val="CCD6F6"/>
                </a:solidFill>
                <a:latin typeface="Lato"/>
              </a:rPr>
              <a:t> sebagai mesin prediksi utama (akurasi 75%), dan gunakan </a:t>
            </a:r>
            <a:r>
              <a:rPr sz="1125" b="1" i="0" u="none">
                <a:solidFill>
                  <a:srgbClr val="CCD6F6"/>
                </a:solidFill>
                <a:latin typeface="Lato"/>
              </a:rPr>
              <a:t>Decision Tree (Depth 3)</a:t>
            </a:r>
            <a:r>
              <a:rPr sz="1125" b="0" i="0" u="none">
                <a:solidFill>
                  <a:srgbClr val="CCD6F6"/>
                </a:solidFill>
                <a:latin typeface="Lato"/>
              </a:rPr>
              <a:t> sekadar sebagai alat visual untuk memaparkan alur logika ke pihak akademik.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2352675"/>
            <a:ext cx="24803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CD6F6"/>
                </a:solidFill>
                <a:latin typeface="Poppins SemiBold"/>
              </a:rPr>
              <a:t>2. Mitigasi Bias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2800350"/>
            <a:ext cx="299724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CD6F6"/>
                </a:solidFill>
                <a:latin typeface="Lato"/>
              </a:rPr>
              <a:t>Fitur sosio-ekonomi (Penghasilan, Gender) </a:t>
            </a:r>
            <a:r>
              <a:rPr sz="1125" b="1" i="0" u="none">
                <a:solidFill>
                  <a:srgbClr val="CCD6F6"/>
                </a:solidFill>
                <a:latin typeface="Lato"/>
              </a:rPr>
              <a:t>wajib dihapus</a:t>
            </a:r>
            <a:r>
              <a:rPr sz="1125" b="0" i="0" u="none">
                <a:solidFill>
                  <a:srgbClr val="CCD6F6"/>
                </a:solidFill>
                <a:latin typeface="Lato"/>
              </a:rPr>
              <a:t>. Penggunaan variabel ini secara teknis tidak mendongkrak performa, namun memunculkan risiko diskriminasi algoritmik fatal.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749" y="2352675"/>
            <a:ext cx="304038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CD6F6"/>
                </a:solidFill>
                <a:latin typeface="Poppins SemiBold"/>
              </a:rPr>
              <a:t>3. AI sebagai Pendukung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2800350"/>
            <a:ext cx="29972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CD6F6"/>
                </a:solidFill>
                <a:latin typeface="Lato"/>
              </a:rPr>
              <a:t>Keputusan akhir tentang kelanjutan beasiswa atau intervensi studi mutlak berada di ranah </a:t>
            </a:r>
            <a:r>
              <a:rPr sz="1125" b="1" i="0" u="none">
                <a:solidFill>
                  <a:srgbClr val="CCD6F6"/>
                </a:solidFill>
                <a:latin typeface="Lato"/>
              </a:rPr>
              <a:t>Dosen Pembimbing Akademik</a:t>
            </a:r>
            <a:r>
              <a:rPr sz="1125" b="0" i="0" u="none">
                <a:solidFill>
                  <a:srgbClr val="CCD6F6"/>
                </a:solidFill>
                <a:latin typeface="Lato"/>
              </a:rPr>
              <a:t>. AI hanya bertindak sebagai radar deteksi dini.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771650"/>
            <a:ext cx="31432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1771650"/>
            <a:ext cx="45720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49" y="1771650"/>
            <a:ext cx="314325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dirty="0">
                <a:solidFill>
                  <a:srgbClr val="CCD6F6"/>
                </a:solidFill>
                <a:latin typeface="Poppins SemiBold"/>
              </a:rPr>
              <a:t>4</a:t>
            </a:r>
            <a:r>
              <a:rPr sz="3000" b="0" i="0" u="none" dirty="0">
                <a:solidFill>
                  <a:srgbClr val="CCD6F6"/>
                </a:solidFill>
                <a:latin typeface="Poppins SemiBold"/>
              </a:rPr>
              <a:t>. </a:t>
            </a:r>
            <a:r>
              <a:rPr sz="3000" b="0" i="0" u="none" dirty="0" err="1">
                <a:solidFill>
                  <a:srgbClr val="CCD6F6"/>
                </a:solidFill>
                <a:latin typeface="Poppins SemiBold"/>
              </a:rPr>
              <a:t>Rekomendasi</a:t>
            </a:r>
            <a:r>
              <a:rPr sz="3000" b="0" i="0" u="none" dirty="0">
                <a:solidFill>
                  <a:srgbClr val="CCD6F6"/>
                </a:solidFill>
                <a:latin typeface="Poppins SemiBold"/>
              </a:rPr>
              <a:t> </a:t>
            </a:r>
            <a:r>
              <a:rPr sz="3000" b="0" i="0" u="none" dirty="0" err="1">
                <a:solidFill>
                  <a:srgbClr val="CCD6F6"/>
                </a:solidFill>
                <a:latin typeface="Poppins SemiBold"/>
              </a:rPr>
              <a:t>Implementasi</a:t>
            </a:r>
            <a:r>
              <a:rPr sz="3000" b="0" i="0" u="none" dirty="0">
                <a:solidFill>
                  <a:srgbClr val="CCD6F6"/>
                </a:solidFill>
                <a:latin typeface="Poppins SemiBold"/>
              </a:rPr>
              <a:t> &amp; Etika 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61ADDE-2B6E-5667-1441-60B7F7F2AF10}"/>
              </a:ext>
            </a:extLst>
          </p:cNvPr>
          <p:cNvSpPr txBox="1"/>
          <p:nvPr/>
        </p:nvSpPr>
        <p:spPr>
          <a:xfrm>
            <a:off x="571500" y="405765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CCD6F6"/>
                </a:solidFill>
                <a:latin typeface="Poppins SemiBold"/>
              </a:rPr>
              <a:t>5. </a:t>
            </a:r>
            <a:r>
              <a:rPr sz="3000" b="0" i="0" u="none" dirty="0">
                <a:solidFill>
                  <a:srgbClr val="CCD6F6"/>
                </a:solidFill>
                <a:latin typeface="Poppins SemiBold"/>
              </a:rPr>
              <a:t>Kesimpulan Akhir</a:t>
            </a:r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3BD94D98-DEF7-98C5-8B79-18C30C7768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831053"/>
            <a:ext cx="5524500" cy="17428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4B7F68-954B-366A-B6C0-1872F83AF913}"/>
              </a:ext>
            </a:extLst>
          </p:cNvPr>
          <p:cNvSpPr txBox="1"/>
          <p:nvPr/>
        </p:nvSpPr>
        <p:spPr>
          <a:xfrm>
            <a:off x="5092979" y="3613654"/>
            <a:ext cx="8251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CCD6F6"/>
                </a:solidFill>
                <a:latin typeface="Lato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A082AD-B348-9299-15A7-BFD1FD1C5534}"/>
              </a:ext>
            </a:extLst>
          </p:cNvPr>
          <p:cNvSpPr txBox="1"/>
          <p:nvPr/>
        </p:nvSpPr>
        <p:spPr>
          <a:xfrm>
            <a:off x="575783" y="4894762"/>
            <a:ext cx="5524499" cy="74219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marL="285750" indent="-285750" algn="just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Penggunaan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1" i="0" u="none" dirty="0">
                <a:solidFill>
                  <a:srgbClr val="CCD6F6"/>
                </a:solidFill>
                <a:latin typeface="Lato"/>
              </a:rPr>
              <a:t>Decision Tree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menuntut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adanya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batasan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parameter (</a:t>
            </a:r>
            <a:r>
              <a:rPr sz="1350" b="0" i="1" u="none" dirty="0">
                <a:solidFill>
                  <a:srgbClr val="CCD6F6"/>
                </a:solidFill>
                <a:latin typeface="Lato"/>
              </a:rPr>
              <a:t>Pruning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)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untuk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menghindari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kebiasaan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menghafal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pola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uji yang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merusak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generalisasi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model.</a:t>
            </a:r>
          </a:p>
        </p:txBody>
      </p:sp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BD508669-3FE6-0A99-623E-A5B73F2D40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4801270"/>
            <a:ext cx="5524500" cy="174280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07089A4-C622-BA88-B070-30B7F90956E1}"/>
              </a:ext>
            </a:extLst>
          </p:cNvPr>
          <p:cNvSpPr txBox="1"/>
          <p:nvPr/>
        </p:nvSpPr>
        <p:spPr>
          <a:xfrm>
            <a:off x="580065" y="5744651"/>
            <a:ext cx="5520217" cy="74219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marL="285750" indent="-285750" algn="just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Sistem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prediksi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ini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sangat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siap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diadopsi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Universitas Bengkulu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sebagai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landasan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intervensi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akademik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yang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presisi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,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obyektif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, dan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etis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039612-9822-63CD-F918-CECEDBADD6CC}"/>
              </a:ext>
            </a:extLst>
          </p:cNvPr>
          <p:cNvSpPr txBox="1"/>
          <p:nvPr/>
        </p:nvSpPr>
        <p:spPr>
          <a:xfrm>
            <a:off x="6367943" y="4831053"/>
            <a:ext cx="5524500" cy="74219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marL="285750" indent="-285750" algn="just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sz="1350" b="1" i="0" u="none" dirty="0">
                <a:solidFill>
                  <a:srgbClr val="CCD6F6"/>
                </a:solidFill>
                <a:latin typeface="Lato"/>
              </a:rPr>
              <a:t>Gaussian Naive Bayes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terbukti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secara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empiris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sebagai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algoritma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paling optimal (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Akurasi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75%,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Tanpa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Overfitting)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untuk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dataset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prediksi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kelulusan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berskala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CCD6F6"/>
                </a:solidFill>
                <a:latin typeface="Lato"/>
              </a:rPr>
              <a:t>kecil</a:t>
            </a:r>
            <a:r>
              <a:rPr sz="1350" b="0" i="0" u="none" dirty="0">
                <a:solidFill>
                  <a:srgbClr val="CCD6F6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579</Words>
  <Application>Microsoft Office PowerPoint</Application>
  <PresentationFormat>Widescreen</PresentationFormat>
  <Paragraphs>87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Panzuy</dc:creator>
  <cp:keywords/>
  <dc:description>generated using python-pptx</dc:description>
  <cp:lastModifiedBy>Panzuy</cp:lastModifiedBy>
  <cp:revision>3</cp:revision>
  <dcterms:created xsi:type="dcterms:W3CDTF">2013-01-27T09:14:16Z</dcterms:created>
  <dcterms:modified xsi:type="dcterms:W3CDTF">2026-09-07T20:00:44Z</dcterms:modified>
  <cp:category/>
</cp:coreProperties>
</file>