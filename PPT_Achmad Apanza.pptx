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4" name="Shape 2"/>
          <p:cNvSpPr/>
          <p:nvPr/>
        </p:nvSpPr>
        <p:spPr>
          <a:xfrm>
            <a:off x="7406640" y="0"/>
            <a:ext cx="173736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0"/>
            <a:ext cx="73152" cy="1645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97280"/>
            <a:ext cx="1005840" cy="1005840"/>
          </a:xfrm>
          <a:prstGeom prst="ellipse">
            <a:avLst/>
          </a:prstGeom>
          <a:solidFill>
            <a:srgbClr val="00A8A8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50292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00A8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502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TUGAS MACHINE LEARNING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10058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Prediksi Kelulusan</a:t>
            </a:r>
            <a:endParaRPr lang="en-US" sz="3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Mahasiswa Tepat Waktu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" y="265176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C4DE"/>
                </a:solidFill>
              </a:rPr>
              <a:t>Analisis &amp; Pemodelan Machine Learning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C4DE"/>
                </a:solidFill>
              </a:rPr>
              <a:t>menggunakan Decision Tree dan Gaussian Naive Bayes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383280"/>
            <a:ext cx="2926080" cy="27432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" y="3520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Dibuat oleh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Achmad Apanza</a:t>
            </a:r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</a:rPr>
              <a:t> – G1A024015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" y="40050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Muhammad Iqbal Zafarullah</a:t>
            </a:r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 – G1A024007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Agief Vemas A</a:t>
            </a:r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 – G1A024037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914400"/>
            <a:ext cx="2331720" cy="3703320"/>
          </a:xfrm>
          <a:prstGeom prst="roundRect">
            <a:avLst>
              <a:gd name="adj" fmla="val 4706"/>
            </a:avLst>
          </a:prstGeom>
          <a:solidFill>
            <a:srgbClr val="1A5FA8">
              <a:alpha val="7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11430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</a:rPr>
              <a:t>🎓 Universitas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13350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Universitas Bengkulu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19202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</a:rPr>
              <a:t>📚 Program Studi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21122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Informatika – Teknik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26974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</a:rPr>
              <a:t>👩‍🏫 Dosen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288950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Ir. Arie Vatresia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S.T., M.T.I., Ph.D., IPP.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34747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</a:rPr>
              <a:t>📅 Tahun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36667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0040" y="137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BAGIAN 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914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Dataset &amp; Analisis Konsep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A5F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004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500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Total Data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078992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083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46888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Fitur Prediktor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078992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27AE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772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70.4%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Lulus Tepat Waktu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078992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E67E2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77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Missing Values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057400"/>
            <a:ext cx="411480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11480" y="2148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4C"/>
                </a:solidFill>
              </a:rPr>
              <a:t>Kapan Decision Tree Lebih Cocok?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" y="246888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24688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B45"/>
                </a:solidFill>
              </a:rPr>
              <a:t>Tidak Mengasumsikan Independensi — IPK &amp; Jam_Belajar berkorelasi positif; Penghasilan_Ortu &amp; Status_Beasiswa berkorelasi negatif.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301752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3017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B45"/>
                </a:solidFill>
              </a:rPr>
              <a:t>Interpretasi Intuitif — Aturan seperti "IPK ≥ 3.0 DAN Kehadiran ≥ 75% → Lulus" mudah dikomunikasikan ke dosen &amp; konselor.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11480" y="356616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⚠️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35661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B45"/>
                </a:solidFill>
              </a:rPr>
              <a:t>Risiko Overfitting — Tanpa batas, pohon tumbuh hingga 90 daun (kedalaman 18), menghafal noise data (akurasi train 100%).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411480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✂️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B45"/>
                </a:solidFill>
              </a:rPr>
              <a:t>Mitigasi: Pruning (max_depth, min_samples_leaf) + k-Fold Cross-Validation untuk hyperparameter optimal.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2057400"/>
            <a:ext cx="42062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709160" y="2148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4C"/>
                </a:solidFill>
              </a:rPr>
              <a:t>Pelanggaran Asumsi Independensi Naive Bayes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487168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1A5FA8">
              <a:alpha val="10000"/>
            </a:srgb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00600" y="25420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FA8"/>
                </a:solidFill>
              </a:rPr>
              <a:t>Pasangan 1: IPK  ↔  Jam_Belajar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74320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C2B45"/>
                </a:solidFill>
              </a:rPr>
              <a:t>Korelasi positif langsung: semakin banyak jam belajar → IPK lebih tinggi. Naive Bayes menghitung dua kali bobot informasi yang sama → estimasi probabilitas terdistorsi.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593592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00838F">
              <a:alpha val="10000"/>
            </a:srgb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800600" y="36393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38F"/>
                </a:solidFill>
              </a:rPr>
              <a:t>Pasangan 2: Penghasilan_Ortu  ↔  Status_Beasiswa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800600" y="384962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C2B45"/>
                </a:solidFill>
              </a:rPr>
              <a:t>Beasiswa KIP-Kuliah mensyaratkan penghasilan rendah → korelasi negatif kuat. Efek finansial terhitung ganda dan salah mengukur pengaruh kondisi ekonomi.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503920" y="4800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A8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0040" y="137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BAGIAN B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914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Preprocessing &amp; Pemodelan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170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4C"/>
                </a:solidFill>
              </a:rPr>
              <a:t>⚙️  Preprocessing 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292608" cy="292608"/>
          </a:xfrm>
          <a:prstGeom prst="ellipse">
            <a:avLst/>
          </a:prstGeom>
          <a:solidFill>
            <a:srgbClr val="0D1F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150876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4C"/>
                </a:solidFill>
              </a:rPr>
              <a:t>Train-Test Split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175564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C2B45"/>
                </a:solidFill>
              </a:rPr>
              <a:t>400 data latih | 100 data uji (80:20)</a:t>
            </a:r>
            <a:endParaRPr lang="en-US" sz="8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C2B45"/>
                </a:solidFill>
              </a:rPr>
              <a:t>stratify=y → proporsi kelas 70,5% | 70,0%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292608" cy="292608"/>
          </a:xfrm>
          <a:prstGeom prst="ellipse">
            <a:avLst/>
          </a:prstGeom>
          <a:solidFill>
            <a:srgbClr val="0D1F4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56032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4C"/>
                </a:solidFill>
              </a:rPr>
              <a:t>Imputasi (dari data latih saja)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80720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C2B45"/>
                </a:solidFill>
              </a:rPr>
              <a:t>Median: IPK 2,92 · Kehadiran 72 · Jam_Belajar 11,8</a:t>
            </a:r>
            <a:endParaRPr lang="en-US" sz="8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C2B45"/>
                </a:solidFill>
              </a:rPr>
              <a:t>Modus: Organisasi=Ya · Penghasilan_Ortu=Menengah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292608" cy="292608"/>
          </a:xfrm>
          <a:prstGeom prst="ellipse">
            <a:avLst/>
          </a:prstGeom>
          <a:solidFill>
            <a:srgbClr val="0D1F4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61188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4C"/>
                </a:solidFill>
              </a:rPr>
              <a:t>Encoding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8587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C2B45"/>
                </a:solidFill>
              </a:rPr>
              <a:t>Biner: Organisasi, Status_Beasiswa, Jenis_Kelamin</a:t>
            </a:r>
            <a:endParaRPr lang="en-US" sz="8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C2B45"/>
                </a:solidFill>
              </a:rPr>
              <a:t>Ordinal: Penghasilan_Ortu (Rendah=0, Menengah=1, Tinggi=2)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480560" y="1078992"/>
            <a:ext cx="43434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17720" y="117043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4C"/>
                </a:solidFill>
              </a:rPr>
              <a:t>🌳  Tiga Model yang Dibangun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1508760"/>
            <a:ext cx="4069080" cy="987552"/>
          </a:xfrm>
          <a:prstGeom prst="roundRect">
            <a:avLst>
              <a:gd name="adj" fmla="val 7407"/>
            </a:avLst>
          </a:prstGeom>
          <a:solidFill>
            <a:srgbClr val="1A5FA8">
              <a:alpha val="1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1508760"/>
            <a:ext cx="91440" cy="987552"/>
          </a:xfrm>
          <a:prstGeom prst="rect">
            <a:avLst/>
          </a:prstGeom>
          <a:solidFill>
            <a:srgbClr val="1A5FA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00600" y="155448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FA8"/>
                </a:solidFill>
              </a:rPr>
              <a:t>Decision Tree (max_depth=3)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178308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2B45"/>
                </a:solidFill>
              </a:rPr>
              <a:t>8 daun · kedalaman 3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200253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2B45"/>
                </a:solidFill>
              </a:rPr>
              <a:t>Akurasi train: 0.7075 · test: 0.7100</a:t>
            </a:r>
            <a:endParaRPr lang="en-US" sz="88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22219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2B45"/>
                </a:solidFill>
              </a:rPr>
              <a:t>Gap: 0.0775 — cukup terkontrol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617720" y="2624328"/>
            <a:ext cx="4069080" cy="987552"/>
          </a:xfrm>
          <a:prstGeom prst="roundRect">
            <a:avLst>
              <a:gd name="adj" fmla="val 7407"/>
            </a:avLst>
          </a:prstGeom>
          <a:solidFill>
            <a:srgbClr val="E74C3C">
              <a:alpha val="1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17720" y="2624328"/>
            <a:ext cx="91440" cy="9875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00600" y="267004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4C3C"/>
                </a:solidFill>
              </a:rPr>
              <a:t>Decision Tree (max_depth=None)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28986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2B45"/>
                </a:solidFill>
              </a:rPr>
              <a:t>90 daun · kedalaman 18</a:t>
            </a:r>
            <a:endParaRPr lang="en-US" sz="88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31181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2B45"/>
                </a:solidFill>
              </a:rPr>
              <a:t>Akurasi train: 1.0000 · test: 0.6800</a:t>
            </a:r>
            <a:endParaRPr lang="en-US" sz="88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3337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2B45"/>
                </a:solidFill>
              </a:rPr>
              <a:t>⚠ Gap: 0.3200 — OVERFITTING PARAH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617720" y="3739896"/>
            <a:ext cx="4069080" cy="987552"/>
          </a:xfrm>
          <a:prstGeom prst="roundRect">
            <a:avLst>
              <a:gd name="adj" fmla="val 7407"/>
            </a:avLst>
          </a:prstGeom>
          <a:solidFill>
            <a:srgbClr val="27AE60">
              <a:alpha val="1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617720" y="3739896"/>
            <a:ext cx="91440" cy="9875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800600" y="378561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</a:rPr>
              <a:t>Gaussian Naive Bayes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800600" y="401421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2B45"/>
                </a:solidFill>
              </a:rPr>
              <a:t>Tidak ada struktur pohon</a:t>
            </a:r>
            <a:endParaRPr lang="en-US" sz="880" dirty="0"/>
          </a:p>
        </p:txBody>
      </p:sp>
      <p:sp>
        <p:nvSpPr>
          <p:cNvPr id="40" name="Text 38"/>
          <p:cNvSpPr txBox="1"/>
          <p:nvPr/>
        </p:nvSpPr>
        <p:spPr>
          <a:xfrm>
            <a:off x="4800600" y="423367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2B45"/>
                </a:solidFill>
              </a:rPr>
              <a:t>Akurasi train: 0.7500 · test: 0.7500</a:t>
            </a:r>
            <a:endParaRPr lang="en-US" sz="880" dirty="0"/>
          </a:p>
        </p:txBody>
      </p:sp>
      <p:sp>
        <p:nvSpPr>
          <p:cNvPr id="41" name="Text 39"/>
          <p:cNvSpPr txBox="1"/>
          <p:nvPr/>
        </p:nvSpPr>
        <p:spPr>
          <a:xfrm>
            <a:off x="4800600" y="44531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2B45"/>
                </a:solidFill>
              </a:rPr>
              <a:t>✓ Gap: 0.0000 — Tidak overfitting</a:t>
            </a:r>
            <a:endParaRPr lang="en-US" sz="880" dirty="0"/>
          </a:p>
        </p:txBody>
      </p:sp>
      <p:sp>
        <p:nvSpPr>
          <p:cNvPr id="42" name="Text 40"/>
          <p:cNvSpPr txBox="1"/>
          <p:nvPr/>
        </p:nvSpPr>
        <p:spPr>
          <a:xfrm>
            <a:off x="8503920" y="4800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0040" y="137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BAGIAN B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914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Evaluasi &amp; Analisis Error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1737360" cy="310896"/>
          </a:xfrm>
          <a:prstGeom prst="rect">
            <a:avLst/>
          </a:prstGeom>
          <a:solidFill>
            <a:srgbClr val="0D1F4C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" y="107899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Model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57400" y="1078992"/>
            <a:ext cx="822960" cy="310896"/>
          </a:xfrm>
          <a:prstGeom prst="rect">
            <a:avLst/>
          </a:prstGeom>
          <a:solidFill>
            <a:srgbClr val="0D1F4C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93976" y="107899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Akurasi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80360" y="1078992"/>
            <a:ext cx="868680" cy="310896"/>
          </a:xfrm>
          <a:prstGeom prst="rect">
            <a:avLst/>
          </a:prstGeom>
          <a:solidFill>
            <a:srgbClr val="0D1F4C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16936" y="107899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Precision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49040" y="1078992"/>
            <a:ext cx="777240" cy="310896"/>
          </a:xfrm>
          <a:prstGeom prst="rect">
            <a:avLst/>
          </a:prstGeom>
          <a:solidFill>
            <a:srgbClr val="0D1F4C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85616" y="1078992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Recall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26280" y="1078992"/>
            <a:ext cx="822960" cy="310896"/>
          </a:xfrm>
          <a:prstGeom prst="rect">
            <a:avLst/>
          </a:prstGeom>
          <a:solidFill>
            <a:srgbClr val="0D1F4C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2856" y="107899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F1-Macro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49240" y="1078992"/>
            <a:ext cx="1188720" cy="310896"/>
          </a:xfrm>
          <a:prstGeom prst="rect">
            <a:avLst/>
          </a:prstGeom>
          <a:solidFill>
            <a:srgbClr val="0D1F4C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85816" y="107899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Gap (Train-Test)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37960" y="1078992"/>
            <a:ext cx="1097280" cy="310896"/>
          </a:xfrm>
          <a:prstGeom prst="rect">
            <a:avLst/>
          </a:prstGeom>
          <a:solidFill>
            <a:srgbClr val="0D1F4C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74536" y="107899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CV F1-Macro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1389888"/>
            <a:ext cx="1737360" cy="2926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6616" y="138988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45"/>
                </a:solidFill>
              </a:rPr>
              <a:t>DT depth=3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57400" y="1389888"/>
            <a:ext cx="822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93976" y="13898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45"/>
                </a:solidFill>
              </a:rPr>
              <a:t>0.7100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80360" y="1389888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16936" y="1389888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45"/>
                </a:solidFill>
              </a:rPr>
              <a:t>0.7470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49040" y="1389888"/>
            <a:ext cx="777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85616" y="138988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45"/>
                </a:solidFill>
              </a:rPr>
              <a:t>0.8857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26280" y="1389888"/>
            <a:ext cx="822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62856" y="13898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45"/>
                </a:solidFill>
              </a:rPr>
              <a:t>0.5967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49240" y="1389888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85816" y="138988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45"/>
                </a:solidFill>
              </a:rPr>
              <a:t>0.0775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37960" y="1389888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74536" y="138988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45"/>
                </a:solidFill>
              </a:rPr>
              <a:t>0.6058 ±0.025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1682496"/>
            <a:ext cx="1737360" cy="2926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6616" y="1682496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45"/>
                </a:solidFill>
              </a:rPr>
              <a:t>DT depth=None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57400" y="1682496"/>
            <a:ext cx="822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093976" y="168249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45"/>
                </a:solidFill>
              </a:rPr>
              <a:t>0.6800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880360" y="1682496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916936" y="1682496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45"/>
                </a:solidFill>
              </a:rPr>
              <a:t>0.7794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749040" y="1682496"/>
            <a:ext cx="777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785616" y="1682496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45"/>
                </a:solidFill>
              </a:rPr>
              <a:t>0.7571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26280" y="1682496"/>
            <a:ext cx="822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62856" y="168249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45"/>
                </a:solidFill>
              </a:rPr>
              <a:t>0.6260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49240" y="1682496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385816" y="1682496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4C3C"/>
                </a:solidFill>
              </a:rPr>
              <a:t>0.3200 ⚠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537960" y="1682496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574536" y="1682496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45"/>
                </a:solidFill>
              </a:rPr>
              <a:t>0.6344 ±0.035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1975104"/>
            <a:ext cx="1737360" cy="347472"/>
          </a:xfrm>
          <a:prstGeom prst="rect">
            <a:avLst/>
          </a:prstGeom>
          <a:solidFill>
            <a:srgbClr val="D6EA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56616" y="197510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45"/>
                </a:solidFill>
              </a:rPr>
              <a:t>Gaussian NB ✓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057400" y="1975104"/>
            <a:ext cx="822960" cy="347472"/>
          </a:xfrm>
          <a:prstGeom prst="rect">
            <a:avLst/>
          </a:prstGeom>
          <a:solidFill>
            <a:srgbClr val="D6EA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093976" y="197510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0.7500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880360" y="1975104"/>
            <a:ext cx="868680" cy="347472"/>
          </a:xfrm>
          <a:prstGeom prst="rect">
            <a:avLst/>
          </a:prstGeom>
          <a:solidFill>
            <a:srgbClr val="D6EA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916936" y="1975104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0.8358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749040" y="1975104"/>
            <a:ext cx="777240" cy="347472"/>
          </a:xfrm>
          <a:prstGeom prst="rect">
            <a:avLst/>
          </a:prstGeom>
          <a:solidFill>
            <a:srgbClr val="D6EA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785616" y="1975104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0.8000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26280" y="1975104"/>
            <a:ext cx="822960" cy="347472"/>
          </a:xfrm>
          <a:prstGeom prst="rect">
            <a:avLst/>
          </a:prstGeom>
          <a:solidFill>
            <a:srgbClr val="D6EA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562856" y="197510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0.7103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349240" y="1975104"/>
            <a:ext cx="1188720" cy="347472"/>
          </a:xfrm>
          <a:prstGeom prst="rect">
            <a:avLst/>
          </a:prstGeom>
          <a:solidFill>
            <a:srgbClr val="D6EA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385816" y="197510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0.0000 ✓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537960" y="1975104"/>
            <a:ext cx="1097280" cy="347472"/>
          </a:xfrm>
          <a:prstGeom prst="rect">
            <a:avLst/>
          </a:prstGeom>
          <a:solidFill>
            <a:srgbClr val="D6EA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574536" y="197510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0.7015 ±0.013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0040" y="2560320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32004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</a:rPr>
              <a:t>✓  Model Terbaik: Gaussian Naive Bayes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20040" y="292608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57200" y="3017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4C"/>
                </a:solidFill>
              </a:rPr>
              <a:t>📊  Feature Importance (DT depth=3)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457200" y="329184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2B45"/>
                </a:solidFill>
              </a:rPr>
              <a:t>IPK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1737360" y="3337560"/>
            <a:ext cx="2160617" cy="155448"/>
          </a:xfrm>
          <a:prstGeom prst="roundRect">
            <a:avLst>
              <a:gd name="adj" fmla="val 23529"/>
            </a:avLst>
          </a:prstGeom>
          <a:solidFill>
            <a:srgbClr val="1A5FA8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3934553" y="32918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FA8"/>
                </a:solidFill>
              </a:rPr>
              <a:t>73.8%</a:t>
            </a:r>
            <a:endParaRPr lang="en-US" sz="850" dirty="0"/>
          </a:p>
        </p:txBody>
      </p:sp>
      <p:sp>
        <p:nvSpPr>
          <p:cNvPr id="71" name="Text 69"/>
          <p:cNvSpPr txBox="1"/>
          <p:nvPr/>
        </p:nvSpPr>
        <p:spPr>
          <a:xfrm>
            <a:off x="457200" y="363931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2B45"/>
                </a:solidFill>
              </a:rPr>
              <a:t>Jam_Belajar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1737360" y="3685032"/>
            <a:ext cx="403799" cy="155448"/>
          </a:xfrm>
          <a:prstGeom prst="roundRect">
            <a:avLst>
              <a:gd name="adj" fmla="val 23529"/>
            </a:avLst>
          </a:prstGeom>
          <a:solidFill>
            <a:srgbClr val="00A8A8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2177735" y="363931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A8"/>
                </a:solidFill>
              </a:rPr>
              <a:t>13.8%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457200" y="39867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2B45"/>
                </a:solidFill>
              </a:rPr>
              <a:t>Kehadiran</a:t>
            </a:r>
            <a:endParaRPr lang="en-US" sz="880" dirty="0"/>
          </a:p>
        </p:txBody>
      </p:sp>
      <p:sp>
        <p:nvSpPr>
          <p:cNvPr id="75" name="Shape 73"/>
          <p:cNvSpPr/>
          <p:nvPr/>
        </p:nvSpPr>
        <p:spPr>
          <a:xfrm>
            <a:off x="1737360" y="4032504"/>
            <a:ext cx="361663" cy="155448"/>
          </a:xfrm>
          <a:prstGeom prst="roundRect">
            <a:avLst>
              <a:gd name="adj" fmla="val 23529"/>
            </a:avLst>
          </a:prstGeom>
          <a:solidFill>
            <a:srgbClr val="E67E22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2135599" y="39867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7E22"/>
                </a:solidFill>
              </a:rPr>
              <a:t>12.4%</a:t>
            </a:r>
            <a:endParaRPr lang="en-US" sz="850" dirty="0"/>
          </a:p>
        </p:txBody>
      </p:sp>
      <p:sp>
        <p:nvSpPr>
          <p:cNvPr id="77" name="Text 75"/>
          <p:cNvSpPr txBox="1"/>
          <p:nvPr/>
        </p:nvSpPr>
        <p:spPr>
          <a:xfrm>
            <a:off x="457200" y="433425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2B45"/>
                </a:solidFill>
              </a:rPr>
              <a:t>Fitur Kategorik</a:t>
            </a:r>
            <a:endParaRPr lang="en-US" sz="880" dirty="0"/>
          </a:p>
        </p:txBody>
      </p:sp>
      <p:sp>
        <p:nvSpPr>
          <p:cNvPr id="78" name="Shape 76"/>
          <p:cNvSpPr/>
          <p:nvPr/>
        </p:nvSpPr>
        <p:spPr>
          <a:xfrm>
            <a:off x="1737360" y="4379976"/>
            <a:ext cx="0" cy="155448"/>
          </a:xfrm>
          <a:prstGeom prst="roundRect">
            <a:avLst>
              <a:gd name="adj" fmla="val Infinity"/>
            </a:avLst>
          </a:prstGeom>
          <a:solidFill>
            <a:srgbClr val="B0C4DE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1773936" y="433425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0C4DE"/>
                </a:solidFill>
              </a:rPr>
              <a:t>0.0%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617720" y="2926080"/>
            <a:ext cx="4206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4754880" y="30175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4C"/>
                </a:solidFill>
              </a:rPr>
              <a:t>🔍  Analisis Error (DT depth=3 | 29 salah dari 100)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4709160" y="3310128"/>
            <a:ext cx="109728" cy="475488"/>
          </a:xfrm>
          <a:prstGeom prst="roundRect">
            <a:avLst>
              <a:gd name="adj" fmla="val 25000"/>
            </a:avLst>
          </a:prstGeom>
          <a:solidFill>
            <a:srgbClr val="E74C3C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4892040" y="33101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</a:rPr>
              <a:t>False Positive (21)</a:t>
            </a:r>
            <a:endParaRPr lang="en-US" sz="950" dirty="0"/>
          </a:p>
        </p:txBody>
      </p:sp>
      <p:sp>
        <p:nvSpPr>
          <p:cNvPr id="84" name="Text 82"/>
          <p:cNvSpPr txBox="1"/>
          <p:nvPr/>
        </p:nvSpPr>
        <p:spPr>
          <a:xfrm>
            <a:off x="4892040" y="35112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C2B45"/>
                </a:solidFill>
              </a:rPr>
              <a:t>IPK tinggi tapi tidak lulus → alasan tersembunyi (kesehatan, tugas akhir). Penghasilan_Ortu diabaikan meskipun relevan.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709160" y="3904488"/>
            <a:ext cx="109728" cy="47548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4892040" y="39044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False Negative (8)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4892040" y="410565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C2B45"/>
                </a:solidFill>
              </a:rPr>
              <a:t>IPK &lt; 2,31 langsung diprediksi Tidak meski Kehadiran/Jam_Belajar tinggi. Struktur hierarkis "serakah" memblokir bukti bawah.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709160" y="4498848"/>
            <a:ext cx="109728" cy="475488"/>
          </a:xfrm>
          <a:prstGeom prst="roundRect">
            <a:avLst>
              <a:gd name="adj" fmla="val 25000"/>
            </a:avLst>
          </a:prstGeom>
          <a:solidFill>
            <a:srgbClr val="1A5FA8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4892040" y="44988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FA8"/>
                </a:solidFill>
              </a:rPr>
              <a:t>Pola Umum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4892040" y="47000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C2B45"/>
                </a:solidFill>
              </a:rPr>
              <a:t>IPK mendominasi (0,738). Ketika IPK berlawanan dengan fitur lain, pohon dangkal hampir selalu memihak IPK.</a:t>
            </a:r>
            <a:endParaRPr lang="en-US" sz="850" dirty="0"/>
          </a:p>
        </p:txBody>
      </p:sp>
      <p:sp>
        <p:nvSpPr>
          <p:cNvPr id="91" name="Text 89"/>
          <p:cNvSpPr txBox="1"/>
          <p:nvPr/>
        </p:nvSpPr>
        <p:spPr>
          <a:xfrm>
            <a:off x="8503920" y="4800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4C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101A38"/>
          </a:solidFill>
          <a:ln/>
        </p:spPr>
      </p:sp>
      <p:sp>
        <p:nvSpPr>
          <p:cNvPr id="4" name="Shape 2"/>
          <p:cNvSpPr/>
          <p:nvPr/>
        </p:nvSpPr>
        <p:spPr>
          <a:xfrm>
            <a:off x="6766560" y="0"/>
            <a:ext cx="45720" cy="5143500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20116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004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BAGIAN C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5544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Rekomendasi &amp; Etika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548640"/>
            <a:ext cx="6309360" cy="36576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0040" y="658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A8"/>
                </a:solidFill>
              </a:rPr>
              <a:t>🏆  Rekomendasi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219456" cy="21945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0040" y="1005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960120"/>
            <a:ext cx="6080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GaussianNB sebagai mesin utama penilai risiko (akurasi 0,75 · F1-Macro 0,71 · Gap 0,00)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389888"/>
            <a:ext cx="219456" cy="21945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0040" y="13898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1344168"/>
            <a:ext cx="6080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Recall kelas minoritas 0,63 vs 0,30 DT depth=3 → lebih efektif deteksi mahasiswa berisiko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773936"/>
            <a:ext cx="219456" cy="21945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0040" y="1773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1728216"/>
            <a:ext cx="6080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CV F1-Macro 0,7015 ± 0,013 terkecil → stabil di berbagai pembagian data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157984"/>
            <a:ext cx="219456" cy="21945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20040" y="21579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⚙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112264"/>
            <a:ext cx="6080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DT depth=3 dipertahankan sebagai alat komunikasi: 8 daun mudah dipahami dosen tanpa keahlian statistik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542032"/>
            <a:ext cx="219456" cy="21945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0040" y="25420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✗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2496312"/>
            <a:ext cx="6080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DT depth=None ditolak: 90 daun/kedalaman 18, gap 0,3200 — bukti overfitting parah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834640"/>
            <a:ext cx="6309360" cy="36576"/>
          </a:xfrm>
          <a:prstGeom prst="rect">
            <a:avLst/>
          </a:prstGeom>
          <a:solidFill>
            <a:srgbClr val="B0C4DE">
              <a:alpha val="5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0040" y="29077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⚖️  Bias &amp; Etika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" y="32461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4C"/>
                </a:solidFill>
              </a:rPr>
              <a:t>!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246120"/>
            <a:ext cx="219456" cy="21945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20040" y="3236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4C"/>
                </a:solidFill>
              </a:rPr>
              <a:t>!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3200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Variabel Pengganti:  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874520" y="3200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Penghasilan_Ortu &amp; Status_Beasiswa → keputusan akademik menjadi berbasis kelas ekonomi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320040" y="36484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4C"/>
                </a:solidFill>
              </a:rPr>
              <a:t>!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648456"/>
            <a:ext cx="219456" cy="21945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20040" y="3639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4C"/>
                </a:solidFill>
              </a:rPr>
              <a:t>!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" y="360273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Feedback Loop:  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874520" y="360273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Prediksi negatif → beasiswa dicabut → kegagalan nyata → model makin yakin → self-fulfilling prophecy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320040" y="4050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4C"/>
                </a:solidFill>
              </a:rPr>
              <a:t>!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050792"/>
            <a:ext cx="219456" cy="21945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20040" y="4041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4C"/>
                </a:solidFill>
              </a:rPr>
              <a:t>!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400507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Akurasi Belum Layak:  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874520" y="40050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29/100 kesalahan → tidak layak jadi dasar keputusan pencabutan beasiswa; hanya untuk sistem peringatan dini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4462272"/>
            <a:ext cx="6309360" cy="438912"/>
          </a:xfrm>
          <a:prstGeom prst="roundRect">
            <a:avLst>
              <a:gd name="adj" fmla="val 16667"/>
            </a:avLst>
          </a:prstGeom>
          <a:solidFill>
            <a:srgbClr val="00A8A8">
              <a:alpha val="20000"/>
            </a:srgbClr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57200" y="446227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Mitigasi Utama: Hapus Penghasilan_Ortu &amp; Jenis_Kelamin dari training (importance=0 di pohon). Gunakan model hanya sebagai penyaring awal intervensi akademik — bukan dasar pencabutan beasiswa.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903720" y="65836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7AE60">
              <a:alpha val="1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903720" y="658368"/>
            <a:ext cx="192024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903720" y="749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</a:rPr>
              <a:t>0.75</a:t>
            </a:r>
            <a:endParaRPr lang="en-US" sz="2600" dirty="0"/>
          </a:p>
        </p:txBody>
      </p:sp>
      <p:sp>
        <p:nvSpPr>
          <p:cNvPr id="47" name="Text 45"/>
          <p:cNvSpPr txBox="1"/>
          <p:nvPr/>
        </p:nvSpPr>
        <p:spPr>
          <a:xfrm>
            <a:off x="6903720" y="12252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4DE"/>
                </a:solidFill>
              </a:rPr>
              <a:t>Akurasi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4DE"/>
                </a:solidFill>
              </a:rPr>
              <a:t>Gaussian NB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903720" y="180136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0A8A8">
              <a:alpha val="1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03720" y="1801368"/>
            <a:ext cx="1920240" cy="5486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903720" y="1892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A8"/>
                </a:solidFill>
              </a:rPr>
              <a:t>0.71</a:t>
            </a:r>
            <a:endParaRPr lang="en-US" sz="2600" dirty="0"/>
          </a:p>
        </p:txBody>
      </p:sp>
      <p:sp>
        <p:nvSpPr>
          <p:cNvPr id="51" name="Text 49"/>
          <p:cNvSpPr txBox="1"/>
          <p:nvPr/>
        </p:nvSpPr>
        <p:spPr>
          <a:xfrm>
            <a:off x="6903720" y="23682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4DE"/>
                </a:solidFill>
              </a:rPr>
              <a:t>F1-Macro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4DE"/>
                </a:solidFill>
              </a:rPr>
              <a:t>CV Validated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903720" y="294436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5A623">
              <a:alpha val="1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903720" y="2944368"/>
            <a:ext cx="192024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903720" y="3035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</a:rPr>
              <a:t>0</a:t>
            </a:r>
            <a:endParaRPr lang="en-US" sz="2600" dirty="0"/>
          </a:p>
        </p:txBody>
      </p:sp>
      <p:sp>
        <p:nvSpPr>
          <p:cNvPr id="55" name="Text 53"/>
          <p:cNvSpPr txBox="1"/>
          <p:nvPr/>
        </p:nvSpPr>
        <p:spPr>
          <a:xfrm>
            <a:off x="6903720" y="35112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4DE"/>
                </a:solidFill>
              </a:rPr>
              <a:t>Gap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4DE"/>
                </a:solidFill>
              </a:rPr>
              <a:t>Train-Test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903720" y="408736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A5FA8">
              <a:alpha val="1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903720" y="4087368"/>
            <a:ext cx="1920240" cy="54864"/>
          </a:xfrm>
          <a:prstGeom prst="rect">
            <a:avLst/>
          </a:prstGeom>
          <a:solidFill>
            <a:srgbClr val="1A5FA8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903720" y="4178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FA8"/>
                </a:solidFill>
              </a:rPr>
              <a:t>11</a:t>
            </a:r>
            <a:endParaRPr lang="en-US" sz="2600" dirty="0"/>
          </a:p>
        </p:txBody>
      </p:sp>
      <p:sp>
        <p:nvSpPr>
          <p:cNvPr id="59" name="Text 57"/>
          <p:cNvSpPr txBox="1"/>
          <p:nvPr/>
        </p:nvSpPr>
        <p:spPr>
          <a:xfrm>
            <a:off x="6903720" y="46542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4DE"/>
                </a:solidFill>
              </a:rPr>
              <a:t>False Positive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4DE"/>
                </a:solidFill>
              </a:rPr>
              <a:t>(NB vs 21 DT)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8503920" y="4800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2026-09-07T17:18:49Z</dcterms:created>
  <dcterms:modified xsi:type="dcterms:W3CDTF">2026-09-07T17:18:49Z</dcterms:modified>
</cp:coreProperties>
</file>